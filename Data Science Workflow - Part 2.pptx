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3"/>
  </p:notesMasterIdLst>
  <p:sldIdLst>
    <p:sldId id="256" r:id="rId2"/>
    <p:sldId id="714" r:id="rId3"/>
    <p:sldId id="674" r:id="rId4"/>
    <p:sldId id="716" r:id="rId5"/>
    <p:sldId id="719" r:id="rId6"/>
    <p:sldId id="720" r:id="rId7"/>
    <p:sldId id="728" r:id="rId8"/>
    <p:sldId id="263" r:id="rId9"/>
    <p:sldId id="729" r:id="rId10"/>
    <p:sldId id="264" r:id="rId11"/>
    <p:sldId id="730" r:id="rId12"/>
    <p:sldId id="759" r:id="rId13"/>
    <p:sldId id="265" r:id="rId14"/>
    <p:sldId id="266" r:id="rId15"/>
    <p:sldId id="267" r:id="rId16"/>
    <p:sldId id="757" r:id="rId17"/>
    <p:sldId id="257" r:id="rId18"/>
    <p:sldId id="731" r:id="rId19"/>
    <p:sldId id="732" r:id="rId20"/>
    <p:sldId id="758" r:id="rId21"/>
    <p:sldId id="3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orient="horz" pos="346" userDrawn="1">
          <p15:clr>
            <a:srgbClr val="A4A3A4"/>
          </p15:clr>
        </p15:guide>
        <p15:guide id="3" orient="horz" pos="1026" userDrawn="1">
          <p15:clr>
            <a:srgbClr val="A4A3A4"/>
          </p15:clr>
        </p15:guide>
        <p15:guide id="4" pos="3840" userDrawn="1">
          <p15:clr>
            <a:srgbClr val="A4A3A4"/>
          </p15:clr>
        </p15:guide>
        <p15:guide id="5" orient="horz" pos="799" userDrawn="1">
          <p15:clr>
            <a:srgbClr val="A4A3A4"/>
          </p15:clr>
        </p15:guide>
        <p15:guide id="6" orient="horz" pos="3838" userDrawn="1">
          <p15:clr>
            <a:srgbClr val="A4A3A4"/>
          </p15:clr>
        </p15:guide>
        <p15:guide id="7" pos="7242" userDrawn="1">
          <p15:clr>
            <a:srgbClr val="A4A3A4"/>
          </p15:clr>
        </p15:guide>
        <p15:guide id="8"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333F50"/>
    <a:srgbClr val="8497B0"/>
    <a:srgbClr val="8FAADC"/>
    <a:srgbClr val="2F5597"/>
    <a:srgbClr val="626CC7"/>
    <a:srgbClr val="323B8D"/>
    <a:srgbClr val="21275D"/>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8E55A2-3619-E011-9590-B2BE4F0F079F}" v="1" dt="2025-11-28T09:13:1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3447" autoAdjust="0"/>
  </p:normalViewPr>
  <p:slideViewPr>
    <p:cSldViewPr snapToGrid="0">
      <p:cViewPr varScale="1">
        <p:scale>
          <a:sx n="96" d="100"/>
          <a:sy n="96" d="100"/>
        </p:scale>
        <p:origin x="606" y="84"/>
      </p:cViewPr>
      <p:guideLst>
        <p:guide pos="438"/>
        <p:guide orient="horz" pos="346"/>
        <p:guide orient="horz" pos="1026"/>
        <p:guide pos="3840"/>
        <p:guide orient="horz" pos="799"/>
        <p:guide orient="horz" pos="3838"/>
        <p:guide pos="7242"/>
        <p:guide orient="horz" pos="2160"/>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Nadar" userId="S::simon.nadar@bostoninstituteofanalytics.org::7d0d1391-f149-47d8-8b74-c01bfea21e5e" providerId="AD" clId="Web-{FF8E55A2-3619-E011-9590-B2BE4F0F079F}"/>
    <pc:docChg chg="modSld">
      <pc:chgData name="Simon Nadar" userId="S::simon.nadar@bostoninstituteofanalytics.org::7d0d1391-f149-47d8-8b74-c01bfea21e5e" providerId="AD" clId="Web-{FF8E55A2-3619-E011-9590-B2BE4F0F079F}" dt="2025-11-28T09:13:19.565" v="0" actId="1076"/>
      <pc:docMkLst>
        <pc:docMk/>
      </pc:docMkLst>
      <pc:sldChg chg="modSp">
        <pc:chgData name="Simon Nadar" userId="S::simon.nadar@bostoninstituteofanalytics.org::7d0d1391-f149-47d8-8b74-c01bfea21e5e" providerId="AD" clId="Web-{FF8E55A2-3619-E011-9590-B2BE4F0F079F}" dt="2025-11-28T09:13:19.565" v="0" actId="1076"/>
        <pc:sldMkLst>
          <pc:docMk/>
          <pc:sldMk cId="1813039656" sldId="719"/>
        </pc:sldMkLst>
        <pc:spChg chg="mod">
          <ac:chgData name="Simon Nadar" userId="S::simon.nadar@bostoninstituteofanalytics.org::7d0d1391-f149-47d8-8b74-c01bfea21e5e" providerId="AD" clId="Web-{FF8E55A2-3619-E011-9590-B2BE4F0F079F}" dt="2025-11-28T09:13:19.565" v="0" actId="1076"/>
          <ac:spMkLst>
            <pc:docMk/>
            <pc:sldMk cId="1813039656" sldId="719"/>
            <ac:spMk id="5" creationId="{B4763E55-C823-8F97-8D74-B7A4FBFE14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28-11-2025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215495" y="2938335"/>
            <a:ext cx="9757549" cy="1812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t>Data Science Workflow  Part 2</a:t>
            </a:r>
            <a:endParaRPr lang="en-US" sz="66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705716" y="559666"/>
            <a:ext cx="10790959" cy="708747"/>
          </a:xfrm>
        </p:spPr>
        <p:txBody>
          <a:bodyPr/>
          <a:lstStyle/>
          <a:p>
            <a:r>
              <a:rPr lang="en-IN" dirty="0"/>
              <a:t>Agenda</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705716" y="1638935"/>
            <a:ext cx="10790959" cy="4453890"/>
          </a:xfrm>
        </p:spPr>
        <p:txBody>
          <a:bodyPr>
            <a:noAutofit/>
          </a:bodyPr>
          <a:lstStyle/>
          <a:p>
            <a:r>
              <a:rPr lang="en-US" dirty="0"/>
              <a:t>Turn raw tweets into model-ready data using a structured workflow.</a:t>
            </a:r>
          </a:p>
          <a:p>
            <a:r>
              <a:rPr lang="en-US" dirty="0"/>
              <a:t>Build a sentiment classifier using a </a:t>
            </a:r>
            <a:r>
              <a:rPr lang="en-US" dirty="0" err="1"/>
              <a:t>BiLSTM</a:t>
            </a:r>
            <a:r>
              <a:rPr lang="en-US" dirty="0"/>
              <a:t> deep learning model.</a:t>
            </a:r>
          </a:p>
          <a:p>
            <a:r>
              <a:rPr lang="en-US" dirty="0"/>
              <a:t>Evaluate the model with accuracy, precision, recall, F1-score and a confusion matrix.</a:t>
            </a:r>
          </a:p>
          <a:p>
            <a:r>
              <a:rPr lang="en-US" dirty="0"/>
              <a:t>Save the trained model and deploy it as a web app using </a:t>
            </a:r>
            <a:r>
              <a:rPr lang="en-US" dirty="0" err="1"/>
              <a:t>Streamlit</a:t>
            </a:r>
            <a:r>
              <a:rPr lang="en-US" dirty="0"/>
              <a:t>.</a:t>
            </a:r>
          </a:p>
          <a:p>
            <a:r>
              <a:rPr lang="en-US" dirty="0"/>
              <a:t>Understand how a real end-to-end data science project is executed in practice.</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705485" y="559436"/>
            <a:ext cx="10791190" cy="708978"/>
          </a:xfrm>
        </p:spPr>
        <p:txBody>
          <a:bodyPr>
            <a:noAutofit/>
          </a:bodyPr>
          <a:lstStyle/>
          <a:p>
            <a:r>
              <a:rPr lang="en-IN" dirty="0"/>
              <a:t>Problem Statement – Twitter Sentiment</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700842" y="1638935"/>
            <a:ext cx="10795833" cy="4453890"/>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dirty="0"/>
              <a:t>We have tweets labelled as negative, neutral, or positive.</a:t>
            </a:r>
          </a:p>
          <a:p>
            <a:r>
              <a:rPr lang="en-US" dirty="0"/>
              <a:t>Goal: Build a model that predicts sentiment for a new tweet.</a:t>
            </a:r>
          </a:p>
          <a:p>
            <a:r>
              <a:rPr lang="en-US" dirty="0"/>
              <a:t>Use this as a mini case study to practice text preprocessing, deep learning for NLP, model evaluation and deployment.</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21BF-332C-47BA-D402-588A233E56CD}"/>
              </a:ext>
            </a:extLst>
          </p:cNvPr>
          <p:cNvSpPr>
            <a:spLocks noGrp="1"/>
          </p:cNvSpPr>
          <p:nvPr>
            <p:ph type="title"/>
          </p:nvPr>
        </p:nvSpPr>
        <p:spPr>
          <a:xfrm>
            <a:off x="705484" y="559436"/>
            <a:ext cx="10791191" cy="708978"/>
          </a:xfrm>
        </p:spPr>
        <p:txBody>
          <a:bodyPr>
            <a:normAutofit/>
          </a:bodyPr>
          <a:lstStyle/>
          <a:p>
            <a:r>
              <a:rPr lang="en-IN" dirty="0"/>
              <a:t>End-to-End Workflow</a:t>
            </a:r>
            <a:endParaRPr lang="en-US" b="0" dirty="0"/>
          </a:p>
        </p:txBody>
      </p:sp>
      <p:sp>
        <p:nvSpPr>
          <p:cNvPr id="11" name="Content Placeholder 2">
            <a:extLst>
              <a:ext uri="{FF2B5EF4-FFF2-40B4-BE49-F238E27FC236}">
                <a16:creationId xmlns:a16="http://schemas.microsoft.com/office/drawing/2014/main" id="{142AAD89-01BE-9049-316B-8EFC4125758C}"/>
              </a:ext>
            </a:extLst>
          </p:cNvPr>
          <p:cNvSpPr>
            <a:spLocks noGrp="1"/>
          </p:cNvSpPr>
          <p:nvPr>
            <p:ph idx="1"/>
          </p:nvPr>
        </p:nvSpPr>
        <p:spPr>
          <a:xfrm>
            <a:off x="700842" y="1638935"/>
            <a:ext cx="10795833" cy="4453890"/>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IN" dirty="0"/>
              <a:t>Dataset Overview – understand Twitter_Data.csv.</a:t>
            </a:r>
          </a:p>
          <a:p>
            <a:r>
              <a:rPr lang="en-IN" dirty="0"/>
              <a:t>NLP Preprocessing – </a:t>
            </a:r>
            <a:r>
              <a:rPr lang="en-IN" dirty="0" err="1"/>
              <a:t>clean_text</a:t>
            </a:r>
            <a:r>
              <a:rPr lang="en-IN" dirty="0"/>
              <a:t>() and label encoding.</a:t>
            </a:r>
          </a:p>
          <a:p>
            <a:r>
              <a:rPr lang="en-IN" dirty="0"/>
              <a:t>Train/Test Split – stratified sampling.</a:t>
            </a:r>
          </a:p>
          <a:p>
            <a:r>
              <a:rPr lang="en-IN" dirty="0"/>
              <a:t>Tokenization &amp; Padding – </a:t>
            </a:r>
            <a:r>
              <a:rPr lang="en-IN" dirty="0" err="1"/>
              <a:t>Keras</a:t>
            </a:r>
            <a:r>
              <a:rPr lang="en-IN" dirty="0"/>
              <a:t> Tokenizer and </a:t>
            </a:r>
            <a:r>
              <a:rPr lang="en-IN" dirty="0" err="1"/>
              <a:t>pad_sequences</a:t>
            </a:r>
            <a:r>
              <a:rPr lang="en-IN" dirty="0"/>
              <a:t>.</a:t>
            </a:r>
          </a:p>
          <a:p>
            <a:r>
              <a:rPr lang="en-IN" dirty="0"/>
              <a:t>Deep Learning Model – </a:t>
            </a:r>
            <a:r>
              <a:rPr lang="en-IN" dirty="0" err="1"/>
              <a:t>BiLSTM</a:t>
            </a:r>
            <a:r>
              <a:rPr lang="en-IN" dirty="0"/>
              <a:t> sentiment classifier.</a:t>
            </a:r>
          </a:p>
          <a:p>
            <a:r>
              <a:rPr lang="en-IN" dirty="0"/>
              <a:t>Model Evaluation – metrics &amp; confusion matrix.</a:t>
            </a:r>
          </a:p>
          <a:p>
            <a:r>
              <a:rPr lang="en-IN" dirty="0"/>
              <a:t>Model Saving &amp; Deployment – sentiment_model.h5 and </a:t>
            </a:r>
            <a:r>
              <a:rPr lang="en-IN" dirty="0" err="1"/>
              <a:t>Streamlit</a:t>
            </a:r>
            <a:r>
              <a:rPr lang="en-IN" dirty="0"/>
              <a:t> app.</a:t>
            </a:r>
          </a:p>
        </p:txBody>
      </p:sp>
    </p:spTree>
    <p:extLst>
      <p:ext uri="{BB962C8B-B14F-4D97-AF65-F5344CB8AC3E}">
        <p14:creationId xmlns:p14="http://schemas.microsoft.com/office/powerpoint/2010/main" val="438812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C1A0D-137B-DA11-DB3A-4501E0BD8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DBDD3-B898-176D-92F7-7CD7D6E7AC9E}"/>
              </a:ext>
            </a:extLst>
          </p:cNvPr>
          <p:cNvSpPr>
            <a:spLocks noGrp="1"/>
          </p:cNvSpPr>
          <p:nvPr>
            <p:ph type="title"/>
          </p:nvPr>
        </p:nvSpPr>
        <p:spPr>
          <a:xfrm>
            <a:off x="701183" y="560427"/>
            <a:ext cx="10795492" cy="707986"/>
          </a:xfrm>
        </p:spPr>
        <p:txBody>
          <a:bodyPr anchor="b">
            <a:normAutofit/>
          </a:bodyPr>
          <a:lstStyle/>
          <a:p>
            <a:r>
              <a:rPr lang="en-IN" dirty="0"/>
              <a:t>Dataset Overview – Raw Twitter Data</a:t>
            </a:r>
          </a:p>
        </p:txBody>
      </p:sp>
      <p:pic>
        <p:nvPicPr>
          <p:cNvPr id="9" name="Picture 8" descr="A screenshot of a computer&#10;&#10;AI-generated content may be incorrect.">
            <a:extLst>
              <a:ext uri="{FF2B5EF4-FFF2-40B4-BE49-F238E27FC236}">
                <a16:creationId xmlns:a16="http://schemas.microsoft.com/office/drawing/2014/main" id="{BE1B13AC-914C-FCE7-1843-DD5E43465616}"/>
              </a:ext>
            </a:extLst>
          </p:cNvPr>
          <p:cNvPicPr>
            <a:picLocks noChangeAspect="1"/>
          </p:cNvPicPr>
          <p:nvPr/>
        </p:nvPicPr>
        <p:blipFill>
          <a:blip r:embed="rId2"/>
          <a:srcRect r="28056"/>
          <a:stretch>
            <a:fillRect/>
          </a:stretch>
        </p:blipFill>
        <p:spPr>
          <a:xfrm>
            <a:off x="3948416" y="1629988"/>
            <a:ext cx="7086084" cy="4452898"/>
          </a:xfrm>
          <a:prstGeom prst="rect">
            <a:avLst/>
          </a:prstGeom>
          <a:noFill/>
        </p:spPr>
      </p:pic>
      <p:sp>
        <p:nvSpPr>
          <p:cNvPr id="5" name="Content Placeholder 4">
            <a:extLst>
              <a:ext uri="{FF2B5EF4-FFF2-40B4-BE49-F238E27FC236}">
                <a16:creationId xmlns:a16="http://schemas.microsoft.com/office/drawing/2014/main" id="{B4763E55-C823-8F97-8D74-B7A4FBFE14D9}"/>
              </a:ext>
            </a:extLst>
          </p:cNvPr>
          <p:cNvSpPr>
            <a:spLocks noGrp="1"/>
          </p:cNvSpPr>
          <p:nvPr>
            <p:ph type="body" sz="half" idx="2"/>
          </p:nvPr>
        </p:nvSpPr>
        <p:spPr>
          <a:xfrm>
            <a:off x="828462" y="1639927"/>
            <a:ext cx="2905617" cy="4452898"/>
          </a:xfrm>
        </p:spPr>
        <p:txBody>
          <a:bodyPr anchor="ctr">
            <a:normAutofit/>
          </a:bodyPr>
          <a:lstStyle/>
          <a:p>
            <a:pPr algn="ctr"/>
            <a:r>
              <a:rPr lang="en-US" sz="2000" dirty="0"/>
              <a:t>We start from Twitter_Data.csv containing raw labelled tweets.</a:t>
            </a:r>
          </a:p>
        </p:txBody>
      </p:sp>
    </p:spTree>
    <p:extLst>
      <p:ext uri="{BB962C8B-B14F-4D97-AF65-F5344CB8AC3E}">
        <p14:creationId xmlns:p14="http://schemas.microsoft.com/office/powerpoint/2010/main" val="1813039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4079C-E0C5-A5D0-2F22-B2F48FDAE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7D81E-6872-A199-46EC-1710E11DEB95}"/>
              </a:ext>
            </a:extLst>
          </p:cNvPr>
          <p:cNvSpPr>
            <a:spLocks noGrp="1"/>
          </p:cNvSpPr>
          <p:nvPr>
            <p:ph type="title"/>
          </p:nvPr>
        </p:nvSpPr>
        <p:spPr>
          <a:xfrm>
            <a:off x="705484" y="559436"/>
            <a:ext cx="10791191" cy="708978"/>
          </a:xfrm>
        </p:spPr>
        <p:txBody>
          <a:bodyPr>
            <a:normAutofit/>
          </a:bodyPr>
          <a:lstStyle/>
          <a:p>
            <a:r>
              <a:rPr lang="en-US" dirty="0"/>
              <a:t>Exploratory View – Labels and Lengths</a:t>
            </a:r>
          </a:p>
        </p:txBody>
      </p:sp>
      <p:sp>
        <p:nvSpPr>
          <p:cNvPr id="3" name="Content Placeholder 2">
            <a:extLst>
              <a:ext uri="{FF2B5EF4-FFF2-40B4-BE49-F238E27FC236}">
                <a16:creationId xmlns:a16="http://schemas.microsoft.com/office/drawing/2014/main" id="{A5A96A3E-1243-B220-2A99-74E5168CD671}"/>
              </a:ext>
            </a:extLst>
          </p:cNvPr>
          <p:cNvSpPr>
            <a:spLocks noGrp="1"/>
          </p:cNvSpPr>
          <p:nvPr>
            <p:ph idx="1"/>
          </p:nvPr>
        </p:nvSpPr>
        <p:spPr>
          <a:xfrm>
            <a:off x="705485" y="1638935"/>
            <a:ext cx="10791190" cy="4453890"/>
          </a:xfrm>
        </p:spPr>
        <p:txBody>
          <a:bodyPr>
            <a:noAutofit/>
          </a:bodyPr>
          <a:lstStyle/>
          <a:p>
            <a:r>
              <a:rPr lang="en-US" dirty="0"/>
              <a:t>Check class balance for the sentiment column using </a:t>
            </a:r>
            <a:r>
              <a:rPr lang="en-US" dirty="0" err="1"/>
              <a:t>value_counts</a:t>
            </a:r>
            <a:r>
              <a:rPr lang="en-US" dirty="0"/>
              <a:t>().</a:t>
            </a:r>
          </a:p>
          <a:p>
            <a:r>
              <a:rPr lang="en-US" dirty="0"/>
              <a:t>Inspect text length distribution (characters or tokens) to understand tweet sizes.</a:t>
            </a:r>
          </a:p>
          <a:p>
            <a:r>
              <a:rPr lang="en-US" dirty="0"/>
              <a:t>Dataset is reasonably balanced across the three classes – suitable for supervised learning.</a:t>
            </a:r>
          </a:p>
          <a:p>
            <a:r>
              <a:rPr lang="en-US" dirty="0"/>
              <a:t>Tweets are short, so a fixed sequence length (e.g., 40 tokens) is sufficient.</a:t>
            </a:r>
          </a:p>
        </p:txBody>
      </p:sp>
    </p:spTree>
    <p:extLst>
      <p:ext uri="{BB962C8B-B14F-4D97-AF65-F5344CB8AC3E}">
        <p14:creationId xmlns:p14="http://schemas.microsoft.com/office/powerpoint/2010/main" val="276669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A4521-00F6-02B6-59C2-5049F3BF2B48}"/>
            </a:ext>
          </a:extLst>
        </p:cNvPr>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49C98ED4-45D2-D55C-4AF0-AF4D7CD71779}"/>
              </a:ext>
            </a:extLst>
          </p:cNvPr>
          <p:cNvPicPr>
            <a:picLocks noChangeAspect="1"/>
          </p:cNvPicPr>
          <p:nvPr/>
        </p:nvPicPr>
        <p:blipFill>
          <a:blip r:embed="rId2"/>
          <a:stretch>
            <a:fillRect/>
          </a:stretch>
        </p:blipFill>
        <p:spPr>
          <a:xfrm>
            <a:off x="4270917" y="1639929"/>
            <a:ext cx="6996873" cy="4452896"/>
          </a:xfrm>
          <a:prstGeom prst="rect">
            <a:avLst/>
          </a:prstGeom>
          <a:noFill/>
        </p:spPr>
      </p:pic>
      <p:sp>
        <p:nvSpPr>
          <p:cNvPr id="3" name="Content Placeholder 2">
            <a:extLst>
              <a:ext uri="{FF2B5EF4-FFF2-40B4-BE49-F238E27FC236}">
                <a16:creationId xmlns:a16="http://schemas.microsoft.com/office/drawing/2014/main" id="{692601B2-12D6-CB28-5BEA-03FA7ACD80BF}"/>
              </a:ext>
            </a:extLst>
          </p:cNvPr>
          <p:cNvSpPr>
            <a:spLocks noGrp="1"/>
          </p:cNvSpPr>
          <p:nvPr>
            <p:ph type="body" sz="half" idx="2"/>
          </p:nvPr>
        </p:nvSpPr>
        <p:spPr>
          <a:xfrm>
            <a:off x="701183" y="1639927"/>
            <a:ext cx="3569734" cy="4452897"/>
          </a:xfrm>
        </p:spPr>
        <p:txBody>
          <a:bodyPr anchor="ctr">
            <a:normAutofit/>
          </a:bodyPr>
          <a:lstStyle/>
          <a:p>
            <a:pPr algn="ctr"/>
            <a:r>
              <a:rPr lang="en-US" sz="2000" dirty="0"/>
              <a:t>After cleaning we create a new </a:t>
            </a:r>
            <a:r>
              <a:rPr lang="en-US" sz="2000" dirty="0" err="1"/>
              <a:t>DataFrame</a:t>
            </a:r>
            <a:r>
              <a:rPr lang="en-US" sz="2000" dirty="0"/>
              <a:t> with the key columns: text, </a:t>
            </a:r>
            <a:r>
              <a:rPr lang="en-US" sz="2000" dirty="0" err="1"/>
              <a:t>clean_text</a:t>
            </a:r>
            <a:r>
              <a:rPr lang="en-US" sz="2000" dirty="0"/>
              <a:t>, sentiment, </a:t>
            </a:r>
            <a:r>
              <a:rPr lang="en-US" sz="2000" dirty="0" err="1"/>
              <a:t>label_id</a:t>
            </a:r>
            <a:r>
              <a:rPr lang="en-US" sz="2000" dirty="0"/>
              <a:t>.</a:t>
            </a:r>
          </a:p>
        </p:txBody>
      </p:sp>
      <p:sp>
        <p:nvSpPr>
          <p:cNvPr id="13" name="Title 1">
            <a:extLst>
              <a:ext uri="{FF2B5EF4-FFF2-40B4-BE49-F238E27FC236}">
                <a16:creationId xmlns:a16="http://schemas.microsoft.com/office/drawing/2014/main" id="{5CC2D8FC-978C-C982-2E14-293EA01ED80A}"/>
              </a:ext>
            </a:extLst>
          </p:cNvPr>
          <p:cNvSpPr>
            <a:spLocks noGrp="1"/>
          </p:cNvSpPr>
          <p:nvPr>
            <p:ph type="title"/>
          </p:nvPr>
        </p:nvSpPr>
        <p:spPr>
          <a:xfrm>
            <a:off x="705716" y="559666"/>
            <a:ext cx="10790959" cy="708747"/>
          </a:xfrm>
        </p:spPr>
        <p:txBody>
          <a:bodyPr>
            <a:normAutofit/>
          </a:bodyPr>
          <a:lstStyle/>
          <a:p>
            <a:r>
              <a:rPr lang="en-IN" dirty="0"/>
              <a:t>Dataset Overview – After Preprocessing</a:t>
            </a:r>
          </a:p>
        </p:txBody>
      </p:sp>
    </p:spTree>
    <p:extLst>
      <p:ext uri="{BB962C8B-B14F-4D97-AF65-F5344CB8AC3E}">
        <p14:creationId xmlns:p14="http://schemas.microsoft.com/office/powerpoint/2010/main" val="218779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BEFB-2D2C-7E99-B347-E185FBDB6738}"/>
              </a:ext>
            </a:extLst>
          </p:cNvPr>
          <p:cNvSpPr>
            <a:spLocks noGrp="1"/>
          </p:cNvSpPr>
          <p:nvPr>
            <p:ph type="title"/>
          </p:nvPr>
        </p:nvSpPr>
        <p:spPr>
          <a:xfrm>
            <a:off x="705716" y="559666"/>
            <a:ext cx="10790959" cy="708747"/>
          </a:xfrm>
        </p:spPr>
        <p:txBody>
          <a:bodyPr>
            <a:normAutofit/>
          </a:bodyPr>
          <a:lstStyle/>
          <a:p>
            <a:r>
              <a:rPr lang="en-US" dirty="0"/>
              <a:t>NLP Preprocessing – </a:t>
            </a:r>
            <a:r>
              <a:rPr lang="en-US" dirty="0" err="1"/>
              <a:t>clean_text</a:t>
            </a:r>
            <a:r>
              <a:rPr lang="en-US" dirty="0"/>
              <a:t>() and Labels</a:t>
            </a:r>
            <a:endParaRPr lang="en-IN" dirty="0"/>
          </a:p>
        </p:txBody>
      </p:sp>
      <p:sp>
        <p:nvSpPr>
          <p:cNvPr id="3" name="Content Placeholder 2">
            <a:extLst>
              <a:ext uri="{FF2B5EF4-FFF2-40B4-BE49-F238E27FC236}">
                <a16:creationId xmlns:a16="http://schemas.microsoft.com/office/drawing/2014/main" id="{9C94AED5-2D18-993A-D483-E5D0CFE18CD6}"/>
              </a:ext>
            </a:extLst>
          </p:cNvPr>
          <p:cNvSpPr>
            <a:spLocks noGrp="1"/>
          </p:cNvSpPr>
          <p:nvPr>
            <p:ph idx="1"/>
          </p:nvPr>
        </p:nvSpPr>
        <p:spPr>
          <a:xfrm>
            <a:off x="699762" y="1639166"/>
            <a:ext cx="10796914" cy="4453659"/>
          </a:xfrm>
        </p:spPr>
        <p:txBody>
          <a:bodyPr>
            <a:noAutofit/>
          </a:bodyPr>
          <a:lstStyle/>
          <a:p>
            <a:r>
              <a:rPr lang="en-US" dirty="0"/>
              <a:t>Define </a:t>
            </a:r>
            <a:r>
              <a:rPr lang="en-US" dirty="0" err="1"/>
              <a:t>clean_text</a:t>
            </a:r>
            <a:r>
              <a:rPr lang="en-US" dirty="0"/>
              <a:t>(text) using regular expressions: remove URLs and @mentions,</a:t>
            </a:r>
          </a:p>
          <a:p>
            <a:r>
              <a:rPr lang="en-US" dirty="0"/>
              <a:t>keep only letters, spaces, exclamation and question marks, lowercase and collapse spaces.</a:t>
            </a:r>
          </a:p>
          <a:p>
            <a:r>
              <a:rPr lang="en-US" dirty="0"/>
              <a:t>Map sentiment strings to numeric </a:t>
            </a:r>
            <a:r>
              <a:rPr lang="en-US" dirty="0" err="1"/>
              <a:t>label_id</a:t>
            </a:r>
            <a:r>
              <a:rPr lang="en-US" dirty="0"/>
              <a:t>: 0 = negative, 1 = neutral, 2 = positive.</a:t>
            </a:r>
          </a:p>
          <a:p>
            <a:r>
              <a:rPr lang="en-US" dirty="0"/>
              <a:t>Drop very short cleaned tweets (length ≤ 2) to reduce noise.</a:t>
            </a:r>
          </a:p>
          <a:p>
            <a:r>
              <a:rPr lang="en-US" dirty="0"/>
              <a:t>The same </a:t>
            </a:r>
            <a:r>
              <a:rPr lang="en-US" dirty="0" err="1"/>
              <a:t>clean_text</a:t>
            </a:r>
            <a:r>
              <a:rPr lang="en-US" dirty="0"/>
              <a:t>() function is reused later inside the </a:t>
            </a:r>
            <a:r>
              <a:rPr lang="en-US" dirty="0" err="1"/>
              <a:t>Streamlit</a:t>
            </a:r>
            <a:r>
              <a:rPr lang="en-US" dirty="0"/>
              <a:t> app.</a:t>
            </a:r>
          </a:p>
        </p:txBody>
      </p:sp>
    </p:spTree>
    <p:extLst>
      <p:ext uri="{BB962C8B-B14F-4D97-AF65-F5344CB8AC3E}">
        <p14:creationId xmlns:p14="http://schemas.microsoft.com/office/powerpoint/2010/main" val="316454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BCF93-CD45-3838-C1DC-14148DF96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66023-C4E7-EFAB-A0F7-2594A56E9EED}"/>
              </a:ext>
            </a:extLst>
          </p:cNvPr>
          <p:cNvSpPr>
            <a:spLocks noGrp="1"/>
          </p:cNvSpPr>
          <p:nvPr>
            <p:ph type="title"/>
          </p:nvPr>
        </p:nvSpPr>
        <p:spPr>
          <a:xfrm>
            <a:off x="705716" y="559666"/>
            <a:ext cx="10790959" cy="708747"/>
          </a:xfrm>
        </p:spPr>
        <p:txBody>
          <a:bodyPr>
            <a:normAutofit/>
          </a:bodyPr>
          <a:lstStyle/>
          <a:p>
            <a:r>
              <a:rPr lang="en-IN" dirty="0"/>
              <a:t>Train–Test Split</a:t>
            </a:r>
          </a:p>
        </p:txBody>
      </p:sp>
      <p:sp>
        <p:nvSpPr>
          <p:cNvPr id="8" name="TextBox 7">
            <a:extLst>
              <a:ext uri="{FF2B5EF4-FFF2-40B4-BE49-F238E27FC236}">
                <a16:creationId xmlns:a16="http://schemas.microsoft.com/office/drawing/2014/main" id="{694A6C95-890B-1781-C1CD-B38008B50363}"/>
              </a:ext>
            </a:extLst>
          </p:cNvPr>
          <p:cNvSpPr txBox="1"/>
          <p:nvPr/>
        </p:nvSpPr>
        <p:spPr>
          <a:xfrm>
            <a:off x="705717" y="1639926"/>
            <a:ext cx="10790958" cy="2200602"/>
          </a:xfrm>
          <a:prstGeom prst="rect">
            <a:avLst/>
          </a:prstGeom>
          <a:noFill/>
        </p:spPr>
        <p:txBody>
          <a:bodyPr wrap="square">
            <a:spAutoFit/>
          </a:bodyPr>
          <a:lstStyle/>
          <a:p>
            <a:pPr>
              <a:spcBef>
                <a:spcPts val="1000"/>
              </a:spcBef>
            </a:pPr>
            <a:r>
              <a:rPr lang="en-IN" sz="2800" dirty="0"/>
              <a:t>Features </a:t>
            </a:r>
            <a:r>
              <a:rPr lang="en-IN" sz="2800" b="1" dirty="0"/>
              <a:t>X</a:t>
            </a:r>
            <a:r>
              <a:rPr lang="en-IN" sz="2800" dirty="0"/>
              <a:t>: </a:t>
            </a:r>
            <a:r>
              <a:rPr lang="en-IN" sz="2800" dirty="0" err="1"/>
              <a:t>clean_text</a:t>
            </a:r>
            <a:r>
              <a:rPr lang="en-IN" sz="2800" dirty="0"/>
              <a:t> column (strings).</a:t>
            </a:r>
          </a:p>
          <a:p>
            <a:pPr>
              <a:spcBef>
                <a:spcPts val="1000"/>
              </a:spcBef>
            </a:pPr>
            <a:r>
              <a:rPr lang="en-IN" sz="2800" dirty="0"/>
              <a:t>Labels </a:t>
            </a:r>
            <a:r>
              <a:rPr lang="en-IN" sz="2800" b="1" dirty="0"/>
              <a:t>y</a:t>
            </a:r>
            <a:r>
              <a:rPr lang="en-IN" sz="2800" dirty="0"/>
              <a:t>: </a:t>
            </a:r>
            <a:r>
              <a:rPr lang="en-IN" sz="2800" dirty="0" err="1"/>
              <a:t>label_id</a:t>
            </a:r>
            <a:r>
              <a:rPr lang="en-IN" sz="2800" dirty="0"/>
              <a:t> column (integer encoded sentiments).</a:t>
            </a:r>
          </a:p>
          <a:p>
            <a:pPr>
              <a:spcBef>
                <a:spcPts val="1000"/>
              </a:spcBef>
            </a:pPr>
            <a:r>
              <a:rPr lang="en-IN" sz="2800" dirty="0"/>
              <a:t>Use </a:t>
            </a:r>
            <a:r>
              <a:rPr lang="en-IN" sz="2800" dirty="0" err="1"/>
              <a:t>train_test_split</a:t>
            </a:r>
            <a:r>
              <a:rPr lang="en-IN" sz="2800" dirty="0"/>
              <a:t> from scikit-learn with </a:t>
            </a:r>
            <a:r>
              <a:rPr lang="en-IN" sz="2800" dirty="0" err="1"/>
              <a:t>test_size</a:t>
            </a:r>
            <a:r>
              <a:rPr lang="en-IN" sz="2800" dirty="0"/>
              <a:t> = 0.2 and stratify = y.</a:t>
            </a:r>
          </a:p>
          <a:p>
            <a:pPr>
              <a:spcBef>
                <a:spcPts val="1000"/>
              </a:spcBef>
            </a:pPr>
            <a:r>
              <a:rPr lang="en-IN" sz="2800" b="1" dirty="0"/>
              <a:t>Result</a:t>
            </a:r>
            <a:r>
              <a:rPr lang="en-IN" sz="2800" dirty="0"/>
              <a:t>: ~80% tweets for training, ~20% tweets for final evaluation.</a:t>
            </a:r>
          </a:p>
        </p:txBody>
      </p:sp>
    </p:spTree>
    <p:extLst>
      <p:ext uri="{BB962C8B-B14F-4D97-AF65-F5344CB8AC3E}">
        <p14:creationId xmlns:p14="http://schemas.microsoft.com/office/powerpoint/2010/main" val="1662653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8CFF-0115-F9E9-6C55-8ABAC4808EC8}"/>
              </a:ext>
            </a:extLst>
          </p:cNvPr>
          <p:cNvSpPr>
            <a:spLocks noGrp="1"/>
          </p:cNvSpPr>
          <p:nvPr>
            <p:ph type="title"/>
          </p:nvPr>
        </p:nvSpPr>
        <p:spPr>
          <a:xfrm>
            <a:off x="705717" y="559668"/>
            <a:ext cx="10790958" cy="708746"/>
          </a:xfrm>
        </p:spPr>
        <p:txBody>
          <a:bodyPr>
            <a:normAutofit/>
          </a:bodyPr>
          <a:lstStyle/>
          <a:p>
            <a:r>
              <a:rPr lang="en-IN" dirty="0"/>
              <a:t>Tokenization and Sequence Padding</a:t>
            </a:r>
          </a:p>
        </p:txBody>
      </p:sp>
      <p:sp>
        <p:nvSpPr>
          <p:cNvPr id="3" name="Content Placeholder 2">
            <a:extLst>
              <a:ext uri="{FF2B5EF4-FFF2-40B4-BE49-F238E27FC236}">
                <a16:creationId xmlns:a16="http://schemas.microsoft.com/office/drawing/2014/main" id="{BBDC2492-F03F-43E3-2A75-3EB767C07116}"/>
              </a:ext>
            </a:extLst>
          </p:cNvPr>
          <p:cNvSpPr>
            <a:spLocks noGrp="1"/>
          </p:cNvSpPr>
          <p:nvPr>
            <p:ph idx="1"/>
          </p:nvPr>
        </p:nvSpPr>
        <p:spPr>
          <a:xfrm>
            <a:off x="700617" y="1639166"/>
            <a:ext cx="10796058" cy="4453659"/>
          </a:xfrm>
        </p:spPr>
        <p:txBody>
          <a:bodyPr>
            <a:noAutofit/>
          </a:bodyPr>
          <a:lstStyle/>
          <a:p>
            <a:r>
              <a:rPr lang="en-US" dirty="0"/>
              <a:t>Create Tokenizer(</a:t>
            </a:r>
            <a:r>
              <a:rPr lang="en-US" dirty="0" err="1"/>
              <a:t>num_words</a:t>
            </a:r>
            <a:r>
              <a:rPr lang="en-US" dirty="0"/>
              <a:t>=20000, </a:t>
            </a:r>
            <a:r>
              <a:rPr lang="en-US" dirty="0" err="1"/>
              <a:t>oov_token</a:t>
            </a:r>
            <a:r>
              <a:rPr lang="en-US" dirty="0"/>
              <a:t>="&lt;OOV&gt;") from </a:t>
            </a:r>
            <a:r>
              <a:rPr lang="en-US" dirty="0" err="1"/>
              <a:t>Keras</a:t>
            </a:r>
            <a:r>
              <a:rPr lang="en-US" dirty="0"/>
              <a:t>.</a:t>
            </a:r>
          </a:p>
          <a:p>
            <a:r>
              <a:rPr lang="en-US" dirty="0"/>
              <a:t>Fit the tokenizer only on training texts </a:t>
            </a:r>
            <a:r>
              <a:rPr lang="en-US" dirty="0" err="1"/>
              <a:t>X_train</a:t>
            </a:r>
            <a:r>
              <a:rPr lang="en-US" dirty="0"/>
              <a:t>.</a:t>
            </a:r>
          </a:p>
          <a:p>
            <a:r>
              <a:rPr lang="en-US" dirty="0"/>
              <a:t>Convert texts to sequences of integer word IDs using </a:t>
            </a:r>
            <a:r>
              <a:rPr lang="en-US" dirty="0" err="1"/>
              <a:t>texts_to_sequences</a:t>
            </a:r>
            <a:r>
              <a:rPr lang="en-US" dirty="0"/>
              <a:t>().</a:t>
            </a:r>
          </a:p>
          <a:p>
            <a:r>
              <a:rPr lang="en-US" dirty="0"/>
              <a:t>Pad or truncate to a fixed length of 40 tokens using </a:t>
            </a:r>
            <a:r>
              <a:rPr lang="en-US" dirty="0" err="1"/>
              <a:t>pad_sequences</a:t>
            </a:r>
            <a:r>
              <a:rPr lang="en-US" dirty="0"/>
              <a:t>().</a:t>
            </a:r>
          </a:p>
          <a:p>
            <a:r>
              <a:rPr lang="en-US" dirty="0"/>
              <a:t>Outputs: </a:t>
            </a:r>
            <a:r>
              <a:rPr lang="en-US" dirty="0" err="1"/>
              <a:t>X_train_pad</a:t>
            </a:r>
            <a:r>
              <a:rPr lang="en-US" dirty="0"/>
              <a:t> and </a:t>
            </a:r>
            <a:r>
              <a:rPr lang="en-US" dirty="0" err="1"/>
              <a:t>X_test_pad</a:t>
            </a:r>
            <a:r>
              <a:rPr lang="en-US" dirty="0"/>
              <a:t> with shapes (</a:t>
            </a:r>
            <a:r>
              <a:rPr lang="en-US" dirty="0" err="1"/>
              <a:t>n_samples</a:t>
            </a:r>
            <a:r>
              <a:rPr lang="en-US" dirty="0"/>
              <a:t>, 40).</a:t>
            </a:r>
          </a:p>
        </p:txBody>
      </p:sp>
    </p:spTree>
    <p:extLst>
      <p:ext uri="{BB962C8B-B14F-4D97-AF65-F5344CB8AC3E}">
        <p14:creationId xmlns:p14="http://schemas.microsoft.com/office/powerpoint/2010/main" val="3867106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324B-5E99-ADE3-217B-4B5494A85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48F7B-AEB5-EB0F-0DAE-EF6E3B028C0F}"/>
              </a:ext>
            </a:extLst>
          </p:cNvPr>
          <p:cNvSpPr>
            <a:spLocks noGrp="1"/>
          </p:cNvSpPr>
          <p:nvPr>
            <p:ph type="title"/>
          </p:nvPr>
        </p:nvSpPr>
        <p:spPr>
          <a:xfrm>
            <a:off x="705717" y="559668"/>
            <a:ext cx="10790958" cy="708746"/>
          </a:xfrm>
        </p:spPr>
        <p:txBody>
          <a:bodyPr>
            <a:normAutofit/>
          </a:bodyPr>
          <a:lstStyle/>
          <a:p>
            <a:r>
              <a:rPr lang="en-US" dirty="0" err="1"/>
              <a:t>BiLSTM</a:t>
            </a:r>
            <a:r>
              <a:rPr lang="en-US" dirty="0"/>
              <a:t> Model for Sentiment Classification</a:t>
            </a:r>
          </a:p>
        </p:txBody>
      </p:sp>
      <p:sp>
        <p:nvSpPr>
          <p:cNvPr id="6" name="TextBox 5">
            <a:extLst>
              <a:ext uri="{FF2B5EF4-FFF2-40B4-BE49-F238E27FC236}">
                <a16:creationId xmlns:a16="http://schemas.microsoft.com/office/drawing/2014/main" id="{757E7A93-171A-8CB9-89FA-D944727E09FF}"/>
              </a:ext>
            </a:extLst>
          </p:cNvPr>
          <p:cNvSpPr txBox="1"/>
          <p:nvPr/>
        </p:nvSpPr>
        <p:spPr>
          <a:xfrm>
            <a:off x="705717" y="1639926"/>
            <a:ext cx="10790957" cy="2949525"/>
          </a:xfrm>
          <a:prstGeom prst="rect">
            <a:avLst/>
          </a:prstGeom>
          <a:noFill/>
        </p:spPr>
        <p:txBody>
          <a:bodyPr wrap="square">
            <a:spAutoFit/>
          </a:bodyPr>
          <a:lstStyle/>
          <a:p>
            <a:pPr marL="457200" indent="-457200">
              <a:spcBef>
                <a:spcPts val="1000"/>
              </a:spcBef>
              <a:buFont typeface="Arial" panose="020B0604020202020204" pitchFamily="34" charset="0"/>
              <a:buChar char="•"/>
            </a:pPr>
            <a:r>
              <a:rPr lang="en-IN" sz="2400" dirty="0"/>
              <a:t>Embedding layer: </a:t>
            </a:r>
            <a:r>
              <a:rPr lang="en-IN" sz="2400" dirty="0" err="1"/>
              <a:t>input_dim</a:t>
            </a:r>
            <a:r>
              <a:rPr lang="en-IN" sz="2400" dirty="0"/>
              <a:t>=20000, </a:t>
            </a:r>
            <a:r>
              <a:rPr lang="en-IN" sz="2400" dirty="0" err="1"/>
              <a:t>output_dim</a:t>
            </a:r>
            <a:r>
              <a:rPr lang="en-IN" sz="2400" dirty="0"/>
              <a:t>=100, </a:t>
            </a:r>
            <a:r>
              <a:rPr lang="en-IN" sz="2400" dirty="0" err="1"/>
              <a:t>input_length</a:t>
            </a:r>
            <a:r>
              <a:rPr lang="en-IN" sz="2400" dirty="0"/>
              <a:t>=40.</a:t>
            </a:r>
          </a:p>
          <a:p>
            <a:pPr marL="457200" indent="-457200">
              <a:spcBef>
                <a:spcPts val="1000"/>
              </a:spcBef>
              <a:buFont typeface="Arial" panose="020B0604020202020204" pitchFamily="34" charset="0"/>
              <a:buChar char="•"/>
            </a:pPr>
            <a:r>
              <a:rPr lang="en-IN" sz="2400" dirty="0"/>
              <a:t>SpatialDropout1D(0.1) for regularisation.</a:t>
            </a:r>
          </a:p>
          <a:p>
            <a:pPr marL="457200" indent="-457200">
              <a:spcBef>
                <a:spcPts val="1000"/>
              </a:spcBef>
              <a:buFont typeface="Arial" panose="020B0604020202020204" pitchFamily="34" charset="0"/>
              <a:buChar char="•"/>
            </a:pPr>
            <a:r>
              <a:rPr lang="en-IN" sz="2400" dirty="0"/>
              <a:t>Bidirectional LSTM with 128 units to capture context from both directions.</a:t>
            </a:r>
          </a:p>
          <a:p>
            <a:pPr marL="457200" indent="-457200">
              <a:spcBef>
                <a:spcPts val="1000"/>
              </a:spcBef>
              <a:buFont typeface="Arial" panose="020B0604020202020204" pitchFamily="34" charset="0"/>
              <a:buChar char="•"/>
            </a:pPr>
            <a:r>
              <a:rPr lang="en-IN" sz="2400" dirty="0"/>
              <a:t>Dense(64, activation='</a:t>
            </a:r>
            <a:r>
              <a:rPr lang="en-IN" sz="2400" dirty="0" err="1"/>
              <a:t>relu</a:t>
            </a:r>
            <a:r>
              <a:rPr lang="en-IN" sz="2400" dirty="0"/>
              <a:t>') followed by Dropout(0.3).</a:t>
            </a:r>
          </a:p>
          <a:p>
            <a:pPr marL="457200" indent="-457200">
              <a:spcBef>
                <a:spcPts val="1000"/>
              </a:spcBef>
              <a:buFont typeface="Arial" panose="020B0604020202020204" pitchFamily="34" charset="0"/>
              <a:buChar char="•"/>
            </a:pPr>
            <a:r>
              <a:rPr lang="en-IN" sz="2400" dirty="0"/>
              <a:t>Output layer: Dense(3, activation='</a:t>
            </a:r>
            <a:r>
              <a:rPr lang="en-IN" sz="2400" dirty="0" err="1"/>
              <a:t>softmax</a:t>
            </a:r>
            <a:r>
              <a:rPr lang="en-IN" sz="2400" dirty="0"/>
              <a:t>') for negative, neutral and positive.</a:t>
            </a:r>
          </a:p>
          <a:p>
            <a:pPr marL="457200" indent="-457200">
              <a:spcBef>
                <a:spcPts val="1000"/>
              </a:spcBef>
              <a:buFont typeface="Arial" panose="020B0604020202020204" pitchFamily="34" charset="0"/>
              <a:buChar char="•"/>
            </a:pPr>
            <a:r>
              <a:rPr lang="en-IN" sz="2400" dirty="0"/>
              <a:t>Loss: </a:t>
            </a:r>
            <a:r>
              <a:rPr lang="en-IN" sz="2400" dirty="0" err="1"/>
              <a:t>sparse_categorical_crossentropy</a:t>
            </a:r>
            <a:r>
              <a:rPr lang="en-IN" sz="2400" dirty="0"/>
              <a:t>, Optimizer: Adam, Metric: accuracy.</a:t>
            </a:r>
          </a:p>
        </p:txBody>
      </p:sp>
    </p:spTree>
    <p:extLst>
      <p:ext uri="{BB962C8B-B14F-4D97-AF65-F5344CB8AC3E}">
        <p14:creationId xmlns:p14="http://schemas.microsoft.com/office/powerpoint/2010/main" val="2846535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EC54B-3F02-3F40-7662-DBD95F35C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5585E-E324-E776-311E-B4DADBBCB40E}"/>
              </a:ext>
            </a:extLst>
          </p:cNvPr>
          <p:cNvSpPr>
            <a:spLocks noGrp="1"/>
          </p:cNvSpPr>
          <p:nvPr>
            <p:ph type="title"/>
          </p:nvPr>
        </p:nvSpPr>
        <p:spPr>
          <a:xfrm>
            <a:off x="705716" y="559666"/>
            <a:ext cx="10790960" cy="708747"/>
          </a:xfrm>
        </p:spPr>
        <p:txBody>
          <a:bodyPr>
            <a:normAutofit/>
          </a:bodyPr>
          <a:lstStyle/>
          <a:p>
            <a:r>
              <a:rPr lang="en-US" dirty="0"/>
              <a:t>Handling Under-Predicted Classes – Class Weights</a:t>
            </a:r>
            <a:endParaRPr lang="en-IN" dirty="0"/>
          </a:p>
        </p:txBody>
      </p:sp>
      <p:sp>
        <p:nvSpPr>
          <p:cNvPr id="3" name="Content Placeholder 2">
            <a:extLst>
              <a:ext uri="{FF2B5EF4-FFF2-40B4-BE49-F238E27FC236}">
                <a16:creationId xmlns:a16="http://schemas.microsoft.com/office/drawing/2014/main" id="{FDDE68E3-2EE8-E56D-26FF-EDA5A02287F5}"/>
              </a:ext>
            </a:extLst>
          </p:cNvPr>
          <p:cNvSpPr>
            <a:spLocks noGrp="1"/>
          </p:cNvSpPr>
          <p:nvPr>
            <p:ph idx="1"/>
          </p:nvPr>
        </p:nvSpPr>
        <p:spPr>
          <a:xfrm>
            <a:off x="705715" y="1639166"/>
            <a:ext cx="10790960" cy="4453659"/>
          </a:xfrm>
        </p:spPr>
        <p:txBody>
          <a:bodyPr>
            <a:noAutofit/>
          </a:bodyPr>
          <a:lstStyle/>
          <a:p>
            <a:pPr marL="457200" indent="-457200">
              <a:lnSpc>
                <a:spcPct val="100000"/>
              </a:lnSpc>
            </a:pPr>
            <a:r>
              <a:rPr lang="en-US" dirty="0"/>
              <a:t>Baseline model tended to under-predict the 'negative' class.</a:t>
            </a:r>
          </a:p>
          <a:p>
            <a:pPr marL="457200" indent="-457200">
              <a:lnSpc>
                <a:spcPct val="100000"/>
              </a:lnSpc>
            </a:pPr>
            <a:r>
              <a:rPr lang="en-US" dirty="0"/>
              <a:t>Compute class weights with </a:t>
            </a:r>
            <a:r>
              <a:rPr lang="en-US" dirty="0" err="1"/>
              <a:t>compute_class_weight</a:t>
            </a:r>
            <a:r>
              <a:rPr lang="en-US" dirty="0"/>
              <a:t>(</a:t>
            </a:r>
            <a:r>
              <a:rPr lang="en-US" dirty="0" err="1"/>
              <a:t>class_weight</a:t>
            </a:r>
            <a:r>
              <a:rPr lang="en-US" dirty="0"/>
              <a:t>='balanced', ...).</a:t>
            </a:r>
          </a:p>
          <a:p>
            <a:pPr marL="457200" indent="-457200">
              <a:lnSpc>
                <a:spcPct val="100000"/>
              </a:lnSpc>
            </a:pPr>
            <a:r>
              <a:rPr lang="en-US" dirty="0"/>
              <a:t>Use </a:t>
            </a:r>
            <a:r>
              <a:rPr lang="en-US" dirty="0" err="1"/>
              <a:t>class_weight</a:t>
            </a:r>
            <a:r>
              <a:rPr lang="en-US" dirty="0"/>
              <a:t>=</a:t>
            </a:r>
            <a:r>
              <a:rPr lang="en-US" dirty="0" err="1"/>
              <a:t>class_weight_dict</a:t>
            </a:r>
            <a:r>
              <a:rPr lang="en-US" dirty="0"/>
              <a:t> when calling </a:t>
            </a:r>
            <a:r>
              <a:rPr lang="en-US" dirty="0" err="1"/>
              <a:t>model.fit</a:t>
            </a:r>
            <a:r>
              <a:rPr lang="en-US" dirty="0"/>
              <a:t>().</a:t>
            </a:r>
          </a:p>
          <a:p>
            <a:pPr marL="457200" indent="-457200">
              <a:lnSpc>
                <a:spcPct val="100000"/>
              </a:lnSpc>
            </a:pPr>
            <a:r>
              <a:rPr lang="en-US" dirty="0"/>
              <a:t>This increases the penalty for misclassifying minority/ignored classes.</a:t>
            </a:r>
          </a:p>
          <a:p>
            <a:pPr marL="457200" indent="-457200">
              <a:lnSpc>
                <a:spcPct val="100000"/>
              </a:lnSpc>
            </a:pPr>
            <a:r>
              <a:rPr lang="en-US" dirty="0"/>
              <a:t>Result: the model learns to pay attention to all three sentiments.</a:t>
            </a:r>
          </a:p>
        </p:txBody>
      </p:sp>
    </p:spTree>
    <p:extLst>
      <p:ext uri="{BB962C8B-B14F-4D97-AF65-F5344CB8AC3E}">
        <p14:creationId xmlns:p14="http://schemas.microsoft.com/office/powerpoint/2010/main" val="1759644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196B-9608-1FFC-0546-7D3FB6FC4395}"/>
              </a:ext>
            </a:extLst>
          </p:cNvPr>
          <p:cNvSpPr>
            <a:spLocks noGrp="1"/>
          </p:cNvSpPr>
          <p:nvPr>
            <p:ph type="title"/>
          </p:nvPr>
        </p:nvSpPr>
        <p:spPr>
          <a:xfrm>
            <a:off x="705716" y="559666"/>
            <a:ext cx="10790960" cy="708747"/>
          </a:xfrm>
        </p:spPr>
        <p:txBody>
          <a:bodyPr>
            <a:normAutofit/>
          </a:bodyPr>
          <a:lstStyle/>
          <a:p>
            <a:r>
              <a:rPr lang="en-IN" dirty="0"/>
              <a:t>Training the </a:t>
            </a:r>
            <a:r>
              <a:rPr lang="en-IN" dirty="0" err="1"/>
              <a:t>BiLSTM</a:t>
            </a:r>
            <a:r>
              <a:rPr lang="en-IN" dirty="0"/>
              <a:t> Model</a:t>
            </a:r>
          </a:p>
        </p:txBody>
      </p:sp>
      <p:sp>
        <p:nvSpPr>
          <p:cNvPr id="3" name="Content Placeholder 2">
            <a:extLst>
              <a:ext uri="{FF2B5EF4-FFF2-40B4-BE49-F238E27FC236}">
                <a16:creationId xmlns:a16="http://schemas.microsoft.com/office/drawing/2014/main" id="{0637DA31-78FF-8096-0576-C63E19B7A9BC}"/>
              </a:ext>
            </a:extLst>
          </p:cNvPr>
          <p:cNvSpPr>
            <a:spLocks noGrp="1"/>
          </p:cNvSpPr>
          <p:nvPr>
            <p:ph idx="1"/>
          </p:nvPr>
        </p:nvSpPr>
        <p:spPr>
          <a:xfrm>
            <a:off x="705716" y="1639165"/>
            <a:ext cx="10790959" cy="4453659"/>
          </a:xfrm>
        </p:spPr>
        <p:txBody>
          <a:bodyPr>
            <a:noAutofit/>
          </a:bodyPr>
          <a:lstStyle/>
          <a:p>
            <a:pPr>
              <a:lnSpc>
                <a:spcPct val="100000"/>
              </a:lnSpc>
            </a:pPr>
            <a:r>
              <a:rPr lang="en-IN" dirty="0"/>
              <a:t>Inputs: </a:t>
            </a:r>
            <a:r>
              <a:rPr lang="en-IN" dirty="0" err="1"/>
              <a:t>X_train_pad</a:t>
            </a:r>
            <a:r>
              <a:rPr lang="en-IN" dirty="0"/>
              <a:t> (padded sequences) and </a:t>
            </a:r>
            <a:r>
              <a:rPr lang="en-IN" dirty="0" err="1"/>
              <a:t>y_train</a:t>
            </a:r>
            <a:r>
              <a:rPr lang="en-IN" dirty="0"/>
              <a:t> (integer labels).</a:t>
            </a:r>
          </a:p>
          <a:p>
            <a:pPr>
              <a:lnSpc>
                <a:spcPct val="100000"/>
              </a:lnSpc>
            </a:pPr>
            <a:r>
              <a:rPr lang="en-IN" dirty="0"/>
              <a:t>Validation data: (</a:t>
            </a:r>
            <a:r>
              <a:rPr lang="en-IN" dirty="0" err="1"/>
              <a:t>X_test_pad</a:t>
            </a:r>
            <a:r>
              <a:rPr lang="en-IN" dirty="0"/>
              <a:t>, </a:t>
            </a:r>
            <a:r>
              <a:rPr lang="en-IN" dirty="0" err="1"/>
              <a:t>y_test</a:t>
            </a:r>
            <a:r>
              <a:rPr lang="en-IN" dirty="0"/>
              <a:t>).</a:t>
            </a:r>
          </a:p>
          <a:p>
            <a:pPr>
              <a:lnSpc>
                <a:spcPct val="100000"/>
              </a:lnSpc>
            </a:pPr>
            <a:r>
              <a:rPr lang="en-IN" dirty="0"/>
              <a:t>Epochs: up to 15, Batch size: 32.</a:t>
            </a:r>
          </a:p>
          <a:p>
            <a:pPr>
              <a:lnSpc>
                <a:spcPct val="100000"/>
              </a:lnSpc>
            </a:pPr>
            <a:r>
              <a:rPr lang="en-IN" dirty="0" err="1"/>
              <a:t>EarlyStopping</a:t>
            </a:r>
            <a:r>
              <a:rPr lang="en-IN" dirty="0"/>
              <a:t> callback monitors </a:t>
            </a:r>
            <a:r>
              <a:rPr lang="en-IN" dirty="0" err="1"/>
              <a:t>val_loss</a:t>
            </a:r>
            <a:r>
              <a:rPr lang="en-IN" dirty="0"/>
              <a:t> with patience=2 and </a:t>
            </a:r>
            <a:r>
              <a:rPr lang="en-IN" dirty="0" err="1"/>
              <a:t>restore_best_weights</a:t>
            </a:r>
            <a:r>
              <a:rPr lang="en-IN" dirty="0"/>
              <a:t>=True.</a:t>
            </a:r>
          </a:p>
          <a:p>
            <a:pPr>
              <a:lnSpc>
                <a:spcPct val="100000"/>
              </a:lnSpc>
            </a:pPr>
            <a:r>
              <a:rPr lang="en-IN" dirty="0"/>
              <a:t>Training stops automatically when validation loss stops improving.</a:t>
            </a:r>
          </a:p>
        </p:txBody>
      </p:sp>
    </p:spTree>
    <p:extLst>
      <p:ext uri="{BB962C8B-B14F-4D97-AF65-F5344CB8AC3E}">
        <p14:creationId xmlns:p14="http://schemas.microsoft.com/office/powerpoint/2010/main" val="274569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04ED-E521-8922-D535-53EA191E4F09}"/>
              </a:ext>
            </a:extLst>
          </p:cNvPr>
          <p:cNvSpPr>
            <a:spLocks noGrp="1"/>
          </p:cNvSpPr>
          <p:nvPr>
            <p:ph type="title"/>
          </p:nvPr>
        </p:nvSpPr>
        <p:spPr>
          <a:xfrm>
            <a:off x="705716" y="559666"/>
            <a:ext cx="10790959" cy="708747"/>
          </a:xfrm>
        </p:spPr>
        <p:txBody>
          <a:bodyPr/>
          <a:lstStyle/>
          <a:p>
            <a:r>
              <a:rPr lang="en-IN" dirty="0"/>
              <a:t>Model Evaluation – Metrics</a:t>
            </a:r>
            <a:endParaRPr lang="en-IN" b="0" dirty="0"/>
          </a:p>
        </p:txBody>
      </p:sp>
      <p:sp>
        <p:nvSpPr>
          <p:cNvPr id="3" name="Content Placeholder 2">
            <a:extLst>
              <a:ext uri="{FF2B5EF4-FFF2-40B4-BE49-F238E27FC236}">
                <a16:creationId xmlns:a16="http://schemas.microsoft.com/office/drawing/2014/main" id="{72B4C8ED-C833-5C95-8079-619ECD70F083}"/>
              </a:ext>
            </a:extLst>
          </p:cNvPr>
          <p:cNvSpPr>
            <a:spLocks noGrp="1"/>
          </p:cNvSpPr>
          <p:nvPr>
            <p:ph idx="1"/>
          </p:nvPr>
        </p:nvSpPr>
        <p:spPr>
          <a:xfrm>
            <a:off x="705716" y="1639166"/>
            <a:ext cx="10790959" cy="4453659"/>
          </a:xfrm>
        </p:spPr>
        <p:txBody>
          <a:bodyPr>
            <a:noAutofit/>
          </a:bodyPr>
          <a:lstStyle/>
          <a:p>
            <a:r>
              <a:rPr lang="en-US" dirty="0"/>
              <a:t>Predict on the test set: </a:t>
            </a:r>
            <a:r>
              <a:rPr lang="en-US" dirty="0" err="1"/>
              <a:t>y_pred</a:t>
            </a:r>
            <a:r>
              <a:rPr lang="en-US" dirty="0"/>
              <a:t> = argmax(</a:t>
            </a:r>
            <a:r>
              <a:rPr lang="en-US" dirty="0" err="1"/>
              <a:t>model.predict</a:t>
            </a:r>
            <a:r>
              <a:rPr lang="en-US" dirty="0"/>
              <a:t>(</a:t>
            </a:r>
            <a:r>
              <a:rPr lang="en-US" dirty="0" err="1"/>
              <a:t>X_test_pad</a:t>
            </a:r>
            <a:r>
              <a:rPr lang="en-US" dirty="0"/>
              <a:t>), axis=1).</a:t>
            </a:r>
          </a:p>
          <a:p>
            <a:r>
              <a:rPr lang="en-US" dirty="0"/>
              <a:t>Use </a:t>
            </a:r>
            <a:r>
              <a:rPr lang="en-US" dirty="0" err="1"/>
              <a:t>classification_report</a:t>
            </a:r>
            <a:r>
              <a:rPr lang="en-US" dirty="0"/>
              <a:t> to compute precision, recall and F1-score per class.</a:t>
            </a:r>
          </a:p>
          <a:p>
            <a:r>
              <a:rPr lang="en-US" dirty="0"/>
              <a:t>Compute overall accuracy on the held-out test set.</a:t>
            </a:r>
          </a:p>
          <a:p>
            <a:r>
              <a:rPr lang="en-US" dirty="0"/>
              <a:t>Create a confusion matrix to see where classes are confused (rows = true, columns = predicted).</a:t>
            </a:r>
          </a:p>
          <a:p>
            <a:r>
              <a:rPr lang="en-US" dirty="0"/>
              <a:t>Discuss how well the model separates negative, neutral and positive tweets.</a:t>
            </a:r>
          </a:p>
        </p:txBody>
      </p:sp>
    </p:spTree>
    <p:extLst>
      <p:ext uri="{BB962C8B-B14F-4D97-AF65-F5344CB8AC3E}">
        <p14:creationId xmlns:p14="http://schemas.microsoft.com/office/powerpoint/2010/main" val="2714832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724E-78A0-A92E-C194-C64F0FEC3754}"/>
              </a:ext>
            </a:extLst>
          </p:cNvPr>
          <p:cNvSpPr>
            <a:spLocks noGrp="1"/>
          </p:cNvSpPr>
          <p:nvPr>
            <p:ph type="title"/>
          </p:nvPr>
        </p:nvSpPr>
        <p:spPr>
          <a:xfrm>
            <a:off x="705716" y="559666"/>
            <a:ext cx="10790960" cy="708747"/>
          </a:xfrm>
        </p:spPr>
        <p:txBody>
          <a:bodyPr>
            <a:normAutofit/>
          </a:bodyPr>
          <a:lstStyle/>
          <a:p>
            <a:r>
              <a:rPr lang="en-IN" dirty="0"/>
              <a:t>Error Analysis – Understanding Mistakes</a:t>
            </a:r>
          </a:p>
        </p:txBody>
      </p:sp>
      <p:sp>
        <p:nvSpPr>
          <p:cNvPr id="3" name="Content Placeholder 2">
            <a:extLst>
              <a:ext uri="{FF2B5EF4-FFF2-40B4-BE49-F238E27FC236}">
                <a16:creationId xmlns:a16="http://schemas.microsoft.com/office/drawing/2014/main" id="{ED8F5D28-FAD6-03AC-8FB2-4273085C312F}"/>
              </a:ext>
            </a:extLst>
          </p:cNvPr>
          <p:cNvSpPr>
            <a:spLocks noGrp="1"/>
          </p:cNvSpPr>
          <p:nvPr>
            <p:ph idx="1"/>
          </p:nvPr>
        </p:nvSpPr>
        <p:spPr>
          <a:xfrm>
            <a:off x="705715" y="1639166"/>
            <a:ext cx="10790960" cy="4453659"/>
          </a:xfrm>
        </p:spPr>
        <p:txBody>
          <a:bodyPr>
            <a:noAutofit/>
          </a:bodyPr>
          <a:lstStyle/>
          <a:p>
            <a:r>
              <a:rPr lang="en-US" dirty="0"/>
              <a:t>Inspect some tweets where the model’s prediction differs from the true label.</a:t>
            </a:r>
          </a:p>
          <a:p>
            <a:r>
              <a:rPr lang="en-US" dirty="0"/>
              <a:t>Typical sources of error: sarcasm, irony, very short tweets and ambiguous language.</a:t>
            </a:r>
          </a:p>
          <a:p>
            <a:r>
              <a:rPr lang="en-US" dirty="0"/>
              <a:t>Discuss which classes are hardest to predict and why.</a:t>
            </a:r>
          </a:p>
          <a:p>
            <a:r>
              <a:rPr lang="en-US" dirty="0"/>
              <a:t>Brainstorm potential improvements: more data, pre-trained embeddings, transformer models, etc.</a:t>
            </a:r>
          </a:p>
        </p:txBody>
      </p:sp>
    </p:spTree>
    <p:extLst>
      <p:ext uri="{BB962C8B-B14F-4D97-AF65-F5344CB8AC3E}">
        <p14:creationId xmlns:p14="http://schemas.microsoft.com/office/powerpoint/2010/main" val="2401743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77051-8D0E-333A-BF95-039089743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B2DDE-76A6-B6D1-553B-0DA651EEEFEE}"/>
              </a:ext>
            </a:extLst>
          </p:cNvPr>
          <p:cNvSpPr>
            <a:spLocks noGrp="1"/>
          </p:cNvSpPr>
          <p:nvPr>
            <p:ph type="title"/>
          </p:nvPr>
        </p:nvSpPr>
        <p:spPr>
          <a:xfrm>
            <a:off x="705716" y="559666"/>
            <a:ext cx="10790960" cy="708747"/>
          </a:xfrm>
        </p:spPr>
        <p:txBody>
          <a:bodyPr>
            <a:normAutofit/>
          </a:bodyPr>
          <a:lstStyle/>
          <a:p>
            <a:r>
              <a:rPr lang="en-US" dirty="0"/>
              <a:t>Saving the Model and Tokenizer</a:t>
            </a:r>
            <a:endParaRPr lang="en-IN" dirty="0"/>
          </a:p>
        </p:txBody>
      </p:sp>
      <p:sp>
        <p:nvSpPr>
          <p:cNvPr id="3" name="Content Placeholder 2">
            <a:extLst>
              <a:ext uri="{FF2B5EF4-FFF2-40B4-BE49-F238E27FC236}">
                <a16:creationId xmlns:a16="http://schemas.microsoft.com/office/drawing/2014/main" id="{55F0FEFB-CA3B-844B-B0B0-987C2C030BEB}"/>
              </a:ext>
            </a:extLst>
          </p:cNvPr>
          <p:cNvSpPr>
            <a:spLocks noGrp="1"/>
          </p:cNvSpPr>
          <p:nvPr>
            <p:ph idx="1"/>
          </p:nvPr>
        </p:nvSpPr>
        <p:spPr>
          <a:xfrm>
            <a:off x="705715" y="1639166"/>
            <a:ext cx="10790960" cy="4453659"/>
          </a:xfrm>
        </p:spPr>
        <p:txBody>
          <a:bodyPr>
            <a:noAutofit/>
          </a:bodyPr>
          <a:lstStyle/>
          <a:p>
            <a:r>
              <a:rPr lang="en-US" dirty="0"/>
              <a:t>After training, save the </a:t>
            </a:r>
            <a:r>
              <a:rPr lang="en-US" dirty="0" err="1"/>
              <a:t>Keras</a:t>
            </a:r>
            <a:r>
              <a:rPr lang="en-US" dirty="0"/>
              <a:t> model: </a:t>
            </a:r>
            <a:r>
              <a:rPr lang="en-US" dirty="0" err="1"/>
              <a:t>model.save</a:t>
            </a:r>
            <a:r>
              <a:rPr lang="en-US" dirty="0"/>
              <a:t>('sentiment_model.h5').</a:t>
            </a:r>
          </a:p>
          <a:p>
            <a:r>
              <a:rPr lang="en-US" dirty="0"/>
              <a:t>Save the fitted tokenizer using </a:t>
            </a:r>
            <a:r>
              <a:rPr lang="en-US" dirty="0" err="1"/>
              <a:t>joblib</a:t>
            </a:r>
            <a:r>
              <a:rPr lang="en-US" dirty="0"/>
              <a:t>: dump(tokenizer, '</a:t>
            </a:r>
            <a:r>
              <a:rPr lang="en-US" dirty="0" err="1"/>
              <a:t>tokenizer.joblib</a:t>
            </a:r>
            <a:r>
              <a:rPr lang="en-US" dirty="0"/>
              <a:t>').</a:t>
            </a:r>
          </a:p>
          <a:p>
            <a:r>
              <a:rPr lang="en-US" dirty="0"/>
              <a:t>These artifacts capture everything needed to reproduce predictions later.</a:t>
            </a:r>
          </a:p>
          <a:p>
            <a:r>
              <a:rPr lang="en-US" dirty="0"/>
              <a:t>They are loaded inside the </a:t>
            </a:r>
            <a:r>
              <a:rPr lang="en-US" dirty="0" err="1"/>
              <a:t>Streamlit</a:t>
            </a:r>
            <a:r>
              <a:rPr lang="en-US" dirty="0"/>
              <a:t> app so that training and inference remain consistent.</a:t>
            </a:r>
          </a:p>
        </p:txBody>
      </p:sp>
    </p:spTree>
    <p:extLst>
      <p:ext uri="{BB962C8B-B14F-4D97-AF65-F5344CB8AC3E}">
        <p14:creationId xmlns:p14="http://schemas.microsoft.com/office/powerpoint/2010/main" val="3620461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81ABA-55ED-003D-C20E-E1176DCF9C6E}"/>
              </a:ext>
            </a:extLst>
          </p:cNvPr>
          <p:cNvSpPr>
            <a:spLocks noGrp="1"/>
          </p:cNvSpPr>
          <p:nvPr>
            <p:ph type="title"/>
          </p:nvPr>
        </p:nvSpPr>
        <p:spPr>
          <a:xfrm>
            <a:off x="705716" y="559666"/>
            <a:ext cx="10790960" cy="708747"/>
          </a:xfrm>
        </p:spPr>
        <p:txBody>
          <a:bodyPr/>
          <a:lstStyle/>
          <a:p>
            <a:r>
              <a:rPr lang="en-US" dirty="0"/>
              <a:t>Deployment Overview – </a:t>
            </a:r>
            <a:r>
              <a:rPr lang="en-US" dirty="0" err="1"/>
              <a:t>Streamlit</a:t>
            </a:r>
            <a:r>
              <a:rPr lang="en-US" dirty="0"/>
              <a:t> Web App</a:t>
            </a:r>
            <a:endParaRPr lang="en-IN" dirty="0"/>
          </a:p>
        </p:txBody>
      </p:sp>
      <p:sp>
        <p:nvSpPr>
          <p:cNvPr id="7" name="Content Placeholder 6">
            <a:extLst>
              <a:ext uri="{FF2B5EF4-FFF2-40B4-BE49-F238E27FC236}">
                <a16:creationId xmlns:a16="http://schemas.microsoft.com/office/drawing/2014/main" id="{7F616A19-268A-13F5-497D-46FAE87FFC1C}"/>
              </a:ext>
            </a:extLst>
          </p:cNvPr>
          <p:cNvSpPr>
            <a:spLocks noGrp="1"/>
          </p:cNvSpPr>
          <p:nvPr>
            <p:ph idx="1"/>
          </p:nvPr>
        </p:nvSpPr>
        <p:spPr>
          <a:xfrm>
            <a:off x="705716" y="1639926"/>
            <a:ext cx="10790959" cy="4444366"/>
          </a:xfrm>
        </p:spPr>
        <p:txBody>
          <a:bodyPr>
            <a:noAutofit/>
          </a:bodyPr>
          <a:lstStyle/>
          <a:p>
            <a:r>
              <a:rPr lang="en-IN" dirty="0"/>
              <a:t>Training script: twitter_sentiment_main.py – trains the </a:t>
            </a:r>
            <a:r>
              <a:rPr lang="en-IN" dirty="0" err="1"/>
              <a:t>BiLSTM</a:t>
            </a:r>
            <a:r>
              <a:rPr lang="en-IN" dirty="0"/>
              <a:t> model and saves sentiment_model.h5 &amp; </a:t>
            </a:r>
            <a:r>
              <a:rPr lang="en-IN" dirty="0" err="1"/>
              <a:t>tokenizer.joblib</a:t>
            </a:r>
            <a:r>
              <a:rPr lang="en-IN" dirty="0"/>
              <a:t>.</a:t>
            </a:r>
          </a:p>
          <a:p>
            <a:r>
              <a:rPr lang="en-IN" dirty="0"/>
              <a:t>Model artifacts: sentiment_model.h5 (model) and </a:t>
            </a:r>
            <a:r>
              <a:rPr lang="en-IN" dirty="0" err="1"/>
              <a:t>tokenizer.joblib</a:t>
            </a:r>
            <a:r>
              <a:rPr lang="en-IN" dirty="0"/>
              <a:t> (tokenizer vocabulary).</a:t>
            </a:r>
          </a:p>
          <a:p>
            <a:r>
              <a:rPr lang="en-IN" dirty="0"/>
              <a:t>Web app: twitter_sentiment_app.py – </a:t>
            </a:r>
            <a:r>
              <a:rPr lang="en-IN" dirty="0" err="1"/>
              <a:t>Streamlit</a:t>
            </a:r>
            <a:r>
              <a:rPr lang="en-IN" dirty="0"/>
              <a:t> UI that loads the saved model and tokenizer.</a:t>
            </a:r>
          </a:p>
          <a:p>
            <a:r>
              <a:rPr lang="en-IN" dirty="0"/>
              <a:t>Flow: User enters text → </a:t>
            </a:r>
            <a:r>
              <a:rPr lang="en-IN" dirty="0" err="1"/>
              <a:t>clean_text</a:t>
            </a:r>
            <a:r>
              <a:rPr lang="en-IN" dirty="0"/>
              <a:t>() → tokenizer + padding → </a:t>
            </a:r>
            <a:r>
              <a:rPr lang="en-IN" dirty="0" err="1"/>
              <a:t>model.predict</a:t>
            </a:r>
            <a:r>
              <a:rPr lang="en-IN" dirty="0"/>
              <a:t>() → display sentiment and probabilities.</a:t>
            </a:r>
          </a:p>
        </p:txBody>
      </p:sp>
    </p:spTree>
    <p:extLst>
      <p:ext uri="{BB962C8B-B14F-4D97-AF65-F5344CB8AC3E}">
        <p14:creationId xmlns:p14="http://schemas.microsoft.com/office/powerpoint/2010/main" val="2816176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24D35-589D-FDDE-A0ED-892315B4E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04FE5-696C-EBC8-0364-E2161F7238FC}"/>
              </a:ext>
            </a:extLst>
          </p:cNvPr>
          <p:cNvSpPr>
            <a:spLocks noGrp="1"/>
          </p:cNvSpPr>
          <p:nvPr>
            <p:ph type="title"/>
          </p:nvPr>
        </p:nvSpPr>
        <p:spPr>
          <a:xfrm>
            <a:off x="705716" y="559666"/>
            <a:ext cx="10790960" cy="708747"/>
          </a:xfrm>
        </p:spPr>
        <p:txBody>
          <a:bodyPr>
            <a:normAutofit/>
          </a:bodyPr>
          <a:lstStyle/>
          <a:p>
            <a:r>
              <a:rPr lang="en-IN" dirty="0" err="1"/>
              <a:t>Streamlit</a:t>
            </a:r>
            <a:r>
              <a:rPr lang="en-IN" dirty="0"/>
              <a:t> App – Key Components</a:t>
            </a:r>
          </a:p>
        </p:txBody>
      </p:sp>
      <p:sp>
        <p:nvSpPr>
          <p:cNvPr id="3" name="Content Placeholder 2">
            <a:extLst>
              <a:ext uri="{FF2B5EF4-FFF2-40B4-BE49-F238E27FC236}">
                <a16:creationId xmlns:a16="http://schemas.microsoft.com/office/drawing/2014/main" id="{FE5220BA-BD83-7B4B-5F09-499EE5B68167}"/>
              </a:ext>
            </a:extLst>
          </p:cNvPr>
          <p:cNvSpPr>
            <a:spLocks noGrp="1"/>
          </p:cNvSpPr>
          <p:nvPr>
            <p:ph idx="1"/>
          </p:nvPr>
        </p:nvSpPr>
        <p:spPr>
          <a:xfrm>
            <a:off x="705715" y="1639166"/>
            <a:ext cx="10790960" cy="4453659"/>
          </a:xfrm>
        </p:spPr>
        <p:txBody>
          <a:bodyPr>
            <a:normAutofit/>
          </a:bodyPr>
          <a:lstStyle/>
          <a:p>
            <a:r>
              <a:rPr lang="en-IN" dirty="0"/>
              <a:t>Reuses the same </a:t>
            </a:r>
            <a:r>
              <a:rPr lang="en-IN" dirty="0" err="1"/>
              <a:t>clean_text</a:t>
            </a:r>
            <a:r>
              <a:rPr lang="en-IN" dirty="0"/>
              <a:t>() function as in training for consistent preprocessing.</a:t>
            </a:r>
          </a:p>
          <a:p>
            <a:r>
              <a:rPr lang="en-IN" dirty="0"/>
              <a:t>Loads sentiment_model.h5 using </a:t>
            </a:r>
            <a:r>
              <a:rPr lang="en-IN" dirty="0" err="1"/>
              <a:t>tf.keras.models.load_model</a:t>
            </a:r>
            <a:r>
              <a:rPr lang="en-IN" dirty="0"/>
              <a:t>().</a:t>
            </a:r>
          </a:p>
          <a:p>
            <a:r>
              <a:rPr lang="en-IN" dirty="0"/>
              <a:t>Loads </a:t>
            </a:r>
            <a:r>
              <a:rPr lang="en-IN" dirty="0" err="1"/>
              <a:t>tokenizer.joblib</a:t>
            </a:r>
            <a:r>
              <a:rPr lang="en-IN" dirty="0"/>
              <a:t> using </a:t>
            </a:r>
            <a:r>
              <a:rPr lang="en-IN" dirty="0" err="1"/>
              <a:t>joblib.load</a:t>
            </a:r>
            <a:r>
              <a:rPr lang="en-IN" dirty="0"/>
              <a:t>().</a:t>
            </a:r>
          </a:p>
          <a:p>
            <a:r>
              <a:rPr lang="en-IN" dirty="0" err="1"/>
              <a:t>predict_sentiment</a:t>
            </a:r>
            <a:r>
              <a:rPr lang="en-IN" dirty="0"/>
              <a:t>() cleans input, tokenizes, pads and calls </a:t>
            </a:r>
            <a:r>
              <a:rPr lang="en-IN" dirty="0" err="1"/>
              <a:t>model.predict</a:t>
            </a:r>
            <a:r>
              <a:rPr lang="en-IN" dirty="0"/>
              <a:t>().</a:t>
            </a:r>
          </a:p>
          <a:p>
            <a:r>
              <a:rPr lang="en-IN" dirty="0"/>
              <a:t>UI elements: </a:t>
            </a:r>
            <a:r>
              <a:rPr lang="en-IN" dirty="0" err="1"/>
              <a:t>text_area</a:t>
            </a:r>
            <a:r>
              <a:rPr lang="en-IN" dirty="0"/>
              <a:t> for input, button to trigger prediction, output section for sentiment label and class probabilities.</a:t>
            </a:r>
          </a:p>
        </p:txBody>
      </p:sp>
    </p:spTree>
    <p:extLst>
      <p:ext uri="{BB962C8B-B14F-4D97-AF65-F5344CB8AC3E}">
        <p14:creationId xmlns:p14="http://schemas.microsoft.com/office/powerpoint/2010/main" val="3540038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63828-1352-C86A-D52C-1E00F4428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07F04-2A15-6FD9-C19A-A7768142E8CB}"/>
              </a:ext>
            </a:extLst>
          </p:cNvPr>
          <p:cNvSpPr>
            <a:spLocks noGrp="1"/>
          </p:cNvSpPr>
          <p:nvPr>
            <p:ph type="title"/>
          </p:nvPr>
        </p:nvSpPr>
        <p:spPr>
          <a:xfrm>
            <a:off x="705716" y="559666"/>
            <a:ext cx="10790960" cy="708747"/>
          </a:xfrm>
        </p:spPr>
        <p:txBody>
          <a:bodyPr/>
          <a:lstStyle/>
          <a:p>
            <a:r>
              <a:rPr lang="en-US" dirty="0"/>
              <a:t>How to Run the Project</a:t>
            </a:r>
            <a:endParaRPr lang="en-IN" dirty="0"/>
          </a:p>
        </p:txBody>
      </p:sp>
      <p:sp>
        <p:nvSpPr>
          <p:cNvPr id="4" name="Content Placeholder 3">
            <a:extLst>
              <a:ext uri="{FF2B5EF4-FFF2-40B4-BE49-F238E27FC236}">
                <a16:creationId xmlns:a16="http://schemas.microsoft.com/office/drawing/2014/main" id="{63039DD4-3C76-2DC3-DB9C-FAD1F85C0CD1}"/>
              </a:ext>
            </a:extLst>
          </p:cNvPr>
          <p:cNvSpPr>
            <a:spLocks noGrp="1"/>
          </p:cNvSpPr>
          <p:nvPr>
            <p:ph idx="1"/>
          </p:nvPr>
        </p:nvSpPr>
        <p:spPr>
          <a:xfrm>
            <a:off x="706477" y="1639926"/>
            <a:ext cx="10790198" cy="4444366"/>
          </a:xfrm>
        </p:spPr>
        <p:txBody>
          <a:bodyPr>
            <a:noAutofit/>
          </a:bodyPr>
          <a:lstStyle/>
          <a:p>
            <a:pPr marL="514350" indent="-514350">
              <a:lnSpc>
                <a:spcPct val="100000"/>
              </a:lnSpc>
              <a:buFont typeface="+mj-lt"/>
              <a:buAutoNum type="arabicPeriod"/>
            </a:pPr>
            <a:r>
              <a:rPr lang="en-US" dirty="0"/>
              <a:t>Install dependencies (for example, pip install -r requirements.txt in your environment).</a:t>
            </a:r>
          </a:p>
          <a:p>
            <a:pPr marL="514350" indent="-514350">
              <a:lnSpc>
                <a:spcPct val="100000"/>
              </a:lnSpc>
              <a:buFont typeface="+mj-lt"/>
              <a:buAutoNum type="arabicPeriod"/>
            </a:pPr>
            <a:r>
              <a:rPr lang="en-US" dirty="0"/>
              <a:t>Train the model (one-time step): python twitter_sentiment_main.py.</a:t>
            </a:r>
          </a:p>
          <a:p>
            <a:pPr lvl="1">
              <a:lnSpc>
                <a:spcPct val="100000"/>
              </a:lnSpc>
              <a:spcBef>
                <a:spcPts val="1000"/>
              </a:spcBef>
              <a:buFont typeface="Wingdings" panose="05000000000000000000" pitchFamily="2" charset="2"/>
              <a:buChar char="§"/>
            </a:pPr>
            <a:r>
              <a:rPr lang="en-US" i="1" dirty="0"/>
              <a:t>This generates sentiment_model.h5 and </a:t>
            </a:r>
            <a:r>
              <a:rPr lang="en-US" i="1" dirty="0" err="1"/>
              <a:t>tokenizer.joblib</a:t>
            </a:r>
            <a:r>
              <a:rPr lang="en-US" i="1" dirty="0"/>
              <a:t> in the project folder.</a:t>
            </a:r>
          </a:p>
          <a:p>
            <a:pPr marL="514350" indent="-514350">
              <a:lnSpc>
                <a:spcPct val="100000"/>
              </a:lnSpc>
              <a:buFont typeface="+mj-lt"/>
              <a:buAutoNum type="arabicPeriod"/>
            </a:pPr>
            <a:r>
              <a:rPr lang="en-US" dirty="0"/>
              <a:t>Launch the </a:t>
            </a:r>
            <a:r>
              <a:rPr lang="en-US" dirty="0" err="1"/>
              <a:t>Streamlit</a:t>
            </a:r>
            <a:r>
              <a:rPr lang="en-US" dirty="0"/>
              <a:t> app: </a:t>
            </a:r>
            <a:r>
              <a:rPr lang="en-US" dirty="0" err="1"/>
              <a:t>streamlit</a:t>
            </a:r>
            <a:r>
              <a:rPr lang="en-US" dirty="0"/>
              <a:t> run twitter_sentiment_app.py.</a:t>
            </a:r>
          </a:p>
          <a:p>
            <a:pPr marL="514350" indent="-514350">
              <a:lnSpc>
                <a:spcPct val="100000"/>
              </a:lnSpc>
              <a:buFont typeface="+mj-lt"/>
              <a:buAutoNum type="arabicPeriod"/>
            </a:pPr>
            <a:r>
              <a:rPr lang="en-US" dirty="0"/>
              <a:t>Open the URL shown in the terminal (typically http://localhost:8501) and interact with the app.</a:t>
            </a:r>
          </a:p>
        </p:txBody>
      </p:sp>
    </p:spTree>
    <p:extLst>
      <p:ext uri="{BB962C8B-B14F-4D97-AF65-F5344CB8AC3E}">
        <p14:creationId xmlns:p14="http://schemas.microsoft.com/office/powerpoint/2010/main" val="153399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C3934-AC5E-CDE8-96DE-73535E0D8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A9B29-4C57-04CB-9EA9-4BA96A48BE2B}"/>
              </a:ext>
            </a:extLst>
          </p:cNvPr>
          <p:cNvSpPr>
            <a:spLocks noGrp="1"/>
          </p:cNvSpPr>
          <p:nvPr>
            <p:ph type="title"/>
          </p:nvPr>
        </p:nvSpPr>
        <p:spPr>
          <a:xfrm>
            <a:off x="705716" y="559666"/>
            <a:ext cx="10790960" cy="708747"/>
          </a:xfrm>
        </p:spPr>
        <p:txBody>
          <a:bodyPr/>
          <a:lstStyle/>
          <a:p>
            <a:r>
              <a:rPr lang="en-IN" dirty="0"/>
              <a:t>Key Takeaways</a:t>
            </a:r>
          </a:p>
        </p:txBody>
      </p:sp>
      <p:sp>
        <p:nvSpPr>
          <p:cNvPr id="4" name="Content Placeholder 3">
            <a:extLst>
              <a:ext uri="{FF2B5EF4-FFF2-40B4-BE49-F238E27FC236}">
                <a16:creationId xmlns:a16="http://schemas.microsoft.com/office/drawing/2014/main" id="{421D63C5-9284-048E-97D1-65EA7FA2F4E4}"/>
              </a:ext>
            </a:extLst>
          </p:cNvPr>
          <p:cNvSpPr>
            <a:spLocks noGrp="1"/>
          </p:cNvSpPr>
          <p:nvPr>
            <p:ph idx="1"/>
          </p:nvPr>
        </p:nvSpPr>
        <p:spPr>
          <a:xfrm>
            <a:off x="706477" y="1639926"/>
            <a:ext cx="10790198" cy="4444366"/>
          </a:xfrm>
        </p:spPr>
        <p:txBody>
          <a:bodyPr>
            <a:noAutofit/>
          </a:bodyPr>
          <a:lstStyle/>
          <a:p>
            <a:r>
              <a:rPr lang="en-US" dirty="0"/>
              <a:t>Real-world text data is messy – we must clean, encode and split it before modelling.</a:t>
            </a:r>
          </a:p>
          <a:p>
            <a:r>
              <a:rPr lang="en-US" dirty="0"/>
              <a:t>A </a:t>
            </a:r>
            <a:r>
              <a:rPr lang="en-US" dirty="0" err="1"/>
              <a:t>BiLSTM</a:t>
            </a:r>
            <a:r>
              <a:rPr lang="en-US" dirty="0"/>
              <a:t> model can capture sentiment patterns from sequences of word tokens.</a:t>
            </a:r>
          </a:p>
          <a:p>
            <a:r>
              <a:rPr lang="en-US" dirty="0"/>
              <a:t>Evaluation with precision, recall, F1-score and confusion matrix reveals strengths and weaknesses.</a:t>
            </a:r>
          </a:p>
          <a:p>
            <a:r>
              <a:rPr lang="en-US" dirty="0"/>
              <a:t>Class weighting and early stopping are practical tricks to improve real models.</a:t>
            </a:r>
          </a:p>
          <a:p>
            <a:r>
              <a:rPr lang="en-US" dirty="0"/>
              <a:t>Saving the model and tokenizer and deploying via </a:t>
            </a:r>
            <a:r>
              <a:rPr lang="en-US" dirty="0" err="1"/>
              <a:t>Streamlit</a:t>
            </a:r>
            <a:r>
              <a:rPr lang="en-US" dirty="0"/>
              <a:t> turns analysis into a usable application.</a:t>
            </a:r>
          </a:p>
        </p:txBody>
      </p:sp>
    </p:spTree>
    <p:extLst>
      <p:ext uri="{BB962C8B-B14F-4D97-AF65-F5344CB8AC3E}">
        <p14:creationId xmlns:p14="http://schemas.microsoft.com/office/powerpoint/2010/main" val="1252377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 </a:t>
            </a:r>
          </a:p>
          <a:p>
            <a:pPr algn="ctr"/>
            <a:r>
              <a:rPr lang="en-US" sz="32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7926</TotalTime>
  <Words>1353</Words>
  <Application>Microsoft Office PowerPoint</Application>
  <PresentationFormat>Widescreen</PresentationFormat>
  <Paragraphs>105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BIA Template</vt:lpstr>
      <vt:lpstr>PowerPoint Presentation</vt:lpstr>
      <vt:lpstr>Agenda</vt:lpstr>
      <vt:lpstr>Problem Statement – Twitter Sentiment</vt:lpstr>
      <vt:lpstr>End-to-End Workflow</vt:lpstr>
      <vt:lpstr>Dataset Overview – Raw Twitter Data</vt:lpstr>
      <vt:lpstr>Exploratory View – Labels and Lengths</vt:lpstr>
      <vt:lpstr>Dataset Overview – After Preprocessing</vt:lpstr>
      <vt:lpstr>NLP Preprocessing – clean_text() and Labels</vt:lpstr>
      <vt:lpstr>Train–Test Split</vt:lpstr>
      <vt:lpstr>Tokenization and Sequence Padding</vt:lpstr>
      <vt:lpstr>BiLSTM Model for Sentiment Classification</vt:lpstr>
      <vt:lpstr>Handling Under-Predicted Classes – Class Weights</vt:lpstr>
      <vt:lpstr>Training the BiLSTM Model</vt:lpstr>
      <vt:lpstr>Model Evaluation – Metrics</vt:lpstr>
      <vt:lpstr>Error Analysis – Understanding Mistakes</vt:lpstr>
      <vt:lpstr>Saving the Model and Tokenizer</vt:lpstr>
      <vt:lpstr>Deployment Overview – Streamlit Web App</vt:lpstr>
      <vt:lpstr>Streamlit App – Key Components</vt:lpstr>
      <vt:lpstr>How to Run the Project</vt:lpstr>
      <vt:lpstr>Key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2464</cp:revision>
  <dcterms:created xsi:type="dcterms:W3CDTF">2020-12-23T13:36:00Z</dcterms:created>
  <dcterms:modified xsi:type="dcterms:W3CDTF">2025-11-28T09:13:20Z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